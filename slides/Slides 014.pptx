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06cb545a-f2ad-17ee-9887-b826fbf25788}">
          <p14:sldIdLst>
            <p14:sldId id="256"/>
          </p14:sldIdLst>
        </p14:section>
        <p14:section name="Findings" id="{ecb37938-e3a2-452f-6348-3c627b48155b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1F6F8B"/>
            </a:solidFill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10–14</c:v>
                  </c:pt>
                  <c:pt idx="1">
                    <c:v>15–19</c:v>
                  </c:pt>
                  <c:pt idx="2">
                    <c:v>20–24</c:v>
                  </c:pt>
                  <c:pt idx="3">
                    <c:v>25–29</c:v>
                  </c:pt>
                  <c:pt idx="4">
                    <c:v>30–34</c:v>
                  </c:pt>
                  <c:pt idx="5">
                    <c:v>35–39</c:v>
                  </c:pt>
                  <c:pt idx="6">
                    <c:v>40–44</c:v>
                  </c:pt>
                  <c:pt idx="7">
                    <c:v>45–49</c:v>
                  </c:pt>
                  <c:pt idx="8">
                    <c:v>50–54</c:v>
                  </c:pt>
                  <c:pt idx="9">
                    <c:v>55–59</c:v>
                  </c:pt>
                  <c:pt idx="10">
                    <c:v>60–64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60.1</c:v>
                </c:pt>
                <c:pt idx="1">
                  <c:v>63.8</c:v>
                </c:pt>
                <c:pt idx="2">
                  <c:v>61.7</c:v>
                </c:pt>
                <c:pt idx="3">
                  <c:v>56.5</c:v>
                </c:pt>
                <c:pt idx="4">
                  <c:v>52.9</c:v>
                </c:pt>
                <c:pt idx="5">
                  <c:v>53.8</c:v>
                </c:pt>
                <c:pt idx="6">
                  <c:v>55.4</c:v>
                </c:pt>
                <c:pt idx="7">
                  <c:v>32.7</c:v>
                </c:pt>
                <c:pt idx="8">
                  <c:v>27</c:v>
                </c:pt>
                <c:pt idx="9">
                  <c:v>39.7</c:v>
                </c:pt>
                <c:pt idx="10">
                  <c:v>39.8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C2570F"/>
            </a:solidFill>
            <a:ln w="38100" cap="flat">
              <a:solidFill>
                <a:srgbClr val="C257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570F"/>
              </a:solidFill>
              <a:ln w="9525" cap="flat">
                <a:solidFill>
                  <a:srgbClr val="C257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10–14</c:v>
                  </c:pt>
                  <c:pt idx="1">
                    <c:v>15–19</c:v>
                  </c:pt>
                  <c:pt idx="2">
                    <c:v>20–24</c:v>
                  </c:pt>
                  <c:pt idx="3">
                    <c:v>25–29</c:v>
                  </c:pt>
                  <c:pt idx="4">
                    <c:v>30–34</c:v>
                  </c:pt>
                  <c:pt idx="5">
                    <c:v>35–39</c:v>
                  </c:pt>
                  <c:pt idx="6">
                    <c:v>40–44</c:v>
                  </c:pt>
                  <c:pt idx="7">
                    <c:v>45–49</c:v>
                  </c:pt>
                  <c:pt idx="8">
                    <c:v>50–54</c:v>
                  </c:pt>
                  <c:pt idx="9">
                    <c:v>55–59</c:v>
                  </c:pt>
                  <c:pt idx="10">
                    <c:v>60–64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40.9</c:v>
                </c:pt>
                <c:pt idx="1">
                  <c:v>33.3</c:v>
                </c:pt>
                <c:pt idx="2">
                  <c:v>22.8</c:v>
                </c:pt>
                <c:pt idx="3">
                  <c:v>24.8</c:v>
                </c:pt>
                <c:pt idx="4">
                  <c:v>15.1</c:v>
                </c:pt>
                <c:pt idx="5">
                  <c:v>15</c:v>
                </c:pt>
                <c:pt idx="6">
                  <c:v>7.5</c:v>
                </c:pt>
                <c:pt idx="7">
                  <c:v>8.2</c:v>
                </c:pt>
                <c:pt idx="8">
                  <c:v>14.9</c:v>
                </c:pt>
                <c:pt idx="9">
                  <c:v>3.5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DB0A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3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C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DB0A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32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233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 6 (14 = 1 x 8 + 6): rural Balochistan. Data: PSLM 2019-20 person file merged with the household file by hhid; every statistic is weighted by hhweight. Two questions: how much do households spend per student, and how does literacy differ between women and men across age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Before: R's untouched geom_point of literate against age. The outcome is only 0 or 1, so points overplot and say nothing about women versus men. After: weighted conditional means by five-year age band, one series per sex, direct labels, largest gap annotated. What the default shows that the redesign hides: the individual observations and the raw 0/1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histogram, log10 bins 0.1 wide, density per log10 unit. Weighted median Rs 3,500 vs unweighted Rs 3,000: weights count how many households each observation represents. 90th percentile Rs 18,700, 10th Rs 600, ratio 31.17. One student lies outside Rs 100 - Rs 1,000,000 and is excluded from the histogram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literacy, rural Balochistan, persons 10-64, n = 5,677. Women 15-19: 33.3% vs men 63.8%. Women 55-59: 3.5% vs men 39.7%. Largest gap: 40-44 at 47.9 points. This is descriptive and cross-sectional, so it cannot establish causes or separate age effects from generational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disc"/>
          <p:cNvSpPr/>
          <p:nvPr userDrawn="1"/>
        </p:nvSpPr>
        <p:spPr>
          <a:xfrm>
            <a:off x="6600000" y="-1700000"/>
            <a:ext cx="4000000" cy="400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3" name="Deco ring"/>
          <p:cNvSpPr/>
          <p:nvPr userDrawn="1"/>
        </p:nvSpPr>
        <p:spPr>
          <a:xfrm>
            <a:off x="7500000" y="-900000"/>
            <a:ext cx="2400000" cy="2400000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</p:sp>
      <p:sp>
        <p:nvSpPr>
          <p:cNvPr id="4" name="Deco dot"/>
          <p:cNvSpPr/>
          <p:nvPr userDrawn="1"/>
        </p:nvSpPr>
        <p:spPr>
          <a:xfrm>
            <a:off x="7330000" y="1330000"/>
            <a:ext cx="260000" cy="2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tag"/>
          <p:cNvSpPr txBox="1"/>
          <p:nvPr/>
        </p:nvSpPr>
        <p:spPr>
          <a:xfrm>
            <a:off x="548640" y="457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ECO346  ·  DATA VISUALIZATION FOR ECONOMISTS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548640" y="9144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</a:rPr>
              <a:t>Who pays for school,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/>
              </a:rPr>
              <a:t>and who can read?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5146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Education spending and the gender literacy gap in rural Balochistan, PSLM 2019–20</a:t>
            </a:r>
            <a:endParaRPr lang="en-US" sz="1600" dirty="0"/>
          </a:p>
        </p:txBody>
      </p:sp>
      <p:sp>
        <p:nvSpPr>
          <p:cNvPr id="5" name="Chip 1"/>
          <p:cNvSpPr/>
          <p:nvPr/>
        </p:nvSpPr>
        <p:spPr>
          <a:xfrm>
            <a:off x="548640" y="3520440"/>
            <a:ext cx="173736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9525">
            <a:solidFill>
              <a:srgbClr val="2F6155"/>
            </a:solidFill>
          </a:ln>
        </p:spPr>
      </p:sp>
      <p:sp>
        <p:nvSpPr>
          <p:cNvPr id="6" name="Chip label 1"/>
          <p:cNvSpPr txBox="1"/>
          <p:nvPr/>
        </p:nvSpPr>
        <p:spPr>
          <a:xfrm>
            <a:off x="713232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VARIANT</a:t>
            </a:r>
            <a:endParaRPr lang="en-US" sz="1000" dirty="0"/>
          </a:p>
        </p:txBody>
      </p:sp>
      <p:sp>
        <p:nvSpPr>
          <p:cNvPr id="7" name="Chip value 1"/>
          <p:cNvSpPr txBox="1"/>
          <p:nvPr/>
        </p:nvSpPr>
        <p:spPr>
          <a:xfrm>
            <a:off x="713232" y="38587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/>
              </a:rPr>
              <a:t>6</a:t>
            </a:r>
            <a:endParaRPr lang="en-US" sz="2600" dirty="0"/>
          </a:p>
        </p:txBody>
      </p:sp>
      <p:sp>
        <p:nvSpPr>
          <p:cNvPr id="8" name="Chip sub 1"/>
          <p:cNvSpPr txBox="1"/>
          <p:nvPr/>
        </p:nvSpPr>
        <p:spPr>
          <a:xfrm>
            <a:off x="713232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Balochistan, rural</a:t>
            </a:r>
            <a:endParaRPr lang="en-US" sz="1200" dirty="0"/>
          </a:p>
        </p:txBody>
      </p:sp>
      <p:sp>
        <p:nvSpPr>
          <p:cNvPr id="9" name="Chip 2"/>
          <p:cNvSpPr/>
          <p:nvPr/>
        </p:nvSpPr>
        <p:spPr>
          <a:xfrm>
            <a:off x="2423160" y="3520440"/>
            <a:ext cx="173736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9525">
            <a:solidFill>
              <a:srgbClr val="2F6155"/>
            </a:solidFill>
          </a:ln>
        </p:spPr>
      </p:sp>
      <p:sp>
        <p:nvSpPr>
          <p:cNvPr id="10" name="Chip label 2"/>
          <p:cNvSpPr txBox="1"/>
          <p:nvPr/>
        </p:nvSpPr>
        <p:spPr>
          <a:xfrm>
            <a:off x="2587752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STUDENTS</a:t>
            </a:r>
            <a:endParaRPr lang="en-US" sz="1000" dirty="0"/>
          </a:p>
        </p:txBody>
      </p:sp>
      <p:sp>
        <p:nvSpPr>
          <p:cNvPr id="11" name="Chip value 2"/>
          <p:cNvSpPr txBox="1"/>
          <p:nvPr/>
        </p:nvSpPr>
        <p:spPr>
          <a:xfrm>
            <a:off x="2587752" y="38587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/>
              </a:rPr>
              <a:t>1,464</a:t>
            </a:r>
            <a:endParaRPr lang="en-US" sz="2600" dirty="0"/>
          </a:p>
        </p:txBody>
      </p:sp>
      <p:sp>
        <p:nvSpPr>
          <p:cNvPr id="12" name="Chip sub 2"/>
          <p:cNvSpPr txBox="1"/>
          <p:nvPr/>
        </p:nvSpPr>
        <p:spPr>
          <a:xfrm>
            <a:off x="2587752" y="4297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ed_total &gt; 0</a:t>
            </a:r>
            <a:endParaRPr lang="en-US" sz="1200" dirty="0"/>
          </a:p>
        </p:txBody>
      </p:sp>
      <p:sp>
        <p:nvSpPr>
          <p:cNvPr id="13" name="Chip 3"/>
          <p:cNvSpPr/>
          <p:nvPr/>
        </p:nvSpPr>
        <p:spPr>
          <a:xfrm>
            <a:off x="4297680" y="352044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9525">
            <a:solidFill>
              <a:srgbClr val="2F6155"/>
            </a:solidFill>
          </a:ln>
        </p:spPr>
      </p:sp>
      <p:sp>
        <p:nvSpPr>
          <p:cNvPr id="14" name="Chip label 3"/>
          <p:cNvSpPr txBox="1"/>
          <p:nvPr/>
        </p:nvSpPr>
        <p:spPr>
          <a:xfrm>
            <a:off x="4462272" y="3630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PERSONS 10–64</a:t>
            </a:r>
            <a:endParaRPr lang="en-US" sz="1000" dirty="0"/>
          </a:p>
        </p:txBody>
      </p:sp>
      <p:sp>
        <p:nvSpPr>
          <p:cNvPr id="15" name="Chip value 3"/>
          <p:cNvSpPr txBox="1"/>
          <p:nvPr/>
        </p:nvSpPr>
        <p:spPr>
          <a:xfrm>
            <a:off x="4462272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/>
              </a:rPr>
              <a:t>5,677</a:t>
            </a:r>
            <a:endParaRPr lang="en-US" sz="2600" dirty="0"/>
          </a:p>
        </p:txBody>
      </p:sp>
      <p:sp>
        <p:nvSpPr>
          <p:cNvPr id="16" name="Chip sub 3"/>
          <p:cNvSpPr txBox="1"/>
          <p:nvPr/>
        </p:nvSpPr>
        <p:spPr>
          <a:xfrm>
            <a:off x="4462272" y="4297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literacy recorded</a:t>
            </a:r>
            <a:endParaRPr lang="en-US" sz="1200" dirty="0"/>
          </a:p>
        </p:txBody>
      </p:sp>
      <p:sp>
        <p:nvSpPr>
          <p:cNvPr id="17" name="Chip 4"/>
          <p:cNvSpPr/>
          <p:nvPr/>
        </p:nvSpPr>
        <p:spPr>
          <a:xfrm>
            <a:off x="6355080" y="3520440"/>
            <a:ext cx="210312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9525">
            <a:solidFill>
              <a:srgbClr val="2F6155"/>
            </a:solidFill>
          </a:ln>
        </p:spPr>
      </p:sp>
      <p:sp>
        <p:nvSpPr>
          <p:cNvPr id="18" name="Chip label 4"/>
          <p:cNvSpPr txBox="1"/>
          <p:nvPr/>
        </p:nvSpPr>
        <p:spPr>
          <a:xfrm>
            <a:off x="651967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STUDENT</a:t>
            </a:r>
            <a:endParaRPr lang="en-US" sz="1000" dirty="0"/>
          </a:p>
        </p:txBody>
      </p:sp>
      <p:sp>
        <p:nvSpPr>
          <p:cNvPr id="19" name="Chip value 4"/>
          <p:cNvSpPr txBox="1"/>
          <p:nvPr/>
        </p:nvSpPr>
        <p:spPr>
          <a:xfrm>
            <a:off x="6519672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/>
              </a:rPr>
              <a:t>Areeba Tahir</a:t>
            </a:r>
            <a:endParaRPr lang="en-US" sz="1800" dirty="0"/>
          </a:p>
        </p:txBody>
      </p:sp>
      <p:sp>
        <p:nvSpPr>
          <p:cNvPr id="20" name="Chip sub 4"/>
          <p:cNvSpPr txBox="1"/>
          <p:nvPr/>
        </p:nvSpPr>
        <p:spPr>
          <a:xfrm>
            <a:off x="6519672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FA24-BEDS-014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Makeover: raw dots become a clear comparison</a:t>
            </a:r>
            <a:endParaRPr lang="en-US" sz="2400" dirty="0"/>
          </a:p>
        </p:txBody>
      </p:sp>
      <p:sp>
        <p:nvSpPr>
          <p:cNvPr id="3" name="Before tag"/>
          <p:cNvSpPr txBox="1"/>
          <p:nvPr/>
        </p:nvSpPr>
        <p:spPr>
          <a:xfrm>
            <a:off x="984227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BEFORE</a:t>
            </a:r>
            <a:endParaRPr lang="en-US" sz="1100" dirty="0"/>
          </a:p>
        </p:txBody>
      </p:sp>
      <p:sp>
        <p:nvSpPr>
          <p:cNvPr id="4" name="After tag"/>
          <p:cNvSpPr txBox="1"/>
          <p:nvPr/>
        </p:nvSpPr>
        <p:spPr>
          <a:xfrm>
            <a:off x="4184627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AFTER</a:t>
            </a:r>
            <a:endParaRPr lang="en-US" sz="1100" dirty="0"/>
          </a:p>
        </p:txBody>
      </p:sp>
      <p:sp>
        <p:nvSpPr>
          <p:cNvPr id="5" name="Before card"/>
          <p:cNvSpPr/>
          <p:nvPr/>
        </p:nvSpPr>
        <p:spPr>
          <a:xfrm>
            <a:off x="984227" y="132588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C5D3CC"/>
            </a:solidFill>
          </a:ln>
        </p:spPr>
      </p:sp>
      <p:pic>
        <p:nvPicPr>
          <p:cNvPr id="6" name="Image 0" descr="Default ggplot2 scatterplot of literate (0 or 1) against age, with overlapping black dots in two r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955" y="1435608"/>
            <a:ext cx="2295144" cy="2295144"/>
          </a:xfrm>
          <a:prstGeom prst="rect">
            <a:avLst/>
          </a:prstGeom>
        </p:spPr>
      </p:pic>
      <p:sp>
        <p:nvSpPr>
          <p:cNvPr id="7" name="Makeover arrow"/>
          <p:cNvSpPr/>
          <p:nvPr/>
        </p:nvSpPr>
        <p:spPr>
          <a:xfrm>
            <a:off x="3608555" y="2354580"/>
            <a:ext cx="466344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After card"/>
          <p:cNvSpPr/>
          <p:nvPr/>
        </p:nvSpPr>
        <p:spPr>
          <a:xfrm>
            <a:off x="4184627" y="1325880"/>
            <a:ext cx="3975146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C5D3CC"/>
            </a:solidFill>
          </a:ln>
        </p:spPr>
      </p:sp>
      <p:pic>
        <p:nvPicPr>
          <p:cNvPr id="9" name="Image 1" descr="Redesigned line chart: weighted literacy rate by age band for men and women in rural Balochistan, largest gap at ages 40-4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55" y="1435608"/>
            <a:ext cx="3755690" cy="2295144"/>
          </a:xfrm>
          <a:prstGeom prst="rect">
            <a:avLst/>
          </a:prstGeom>
        </p:spPr>
      </p:pic>
      <p:sp>
        <p:nvSpPr>
          <p:cNvPr id="10" name="Change card 1"/>
          <p:cNvSpPr/>
          <p:nvPr/>
        </p:nvSpPr>
        <p:spPr>
          <a:xfrm>
            <a:off x="457200" y="4005072"/>
            <a:ext cx="2606040" cy="658368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11" name="Change badge 1"/>
          <p:cNvSpPr/>
          <p:nvPr/>
        </p:nvSpPr>
        <p:spPr>
          <a:xfrm>
            <a:off x="566928" y="41605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Change number 1"/>
          <p:cNvSpPr txBox="1"/>
          <p:nvPr/>
        </p:nvSpPr>
        <p:spPr>
          <a:xfrm>
            <a:off x="566928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Change text 1"/>
          <p:cNvSpPr txBox="1"/>
          <p:nvPr/>
        </p:nvSpPr>
        <p:spPr>
          <a:xfrm>
            <a:off x="1024128" y="40507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Conditional means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Five-year bands replace overplotted 0/1 points</a:t>
            </a:r>
            <a:endParaRPr lang="en-US" sz="1200" dirty="0"/>
          </a:p>
        </p:txBody>
      </p:sp>
      <p:sp>
        <p:nvSpPr>
          <p:cNvPr id="14" name="Change card 2"/>
          <p:cNvSpPr/>
          <p:nvPr/>
        </p:nvSpPr>
        <p:spPr>
          <a:xfrm>
            <a:off x="3268980" y="4005072"/>
            <a:ext cx="2606040" cy="658368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15" name="Change badge 2"/>
          <p:cNvSpPr/>
          <p:nvPr/>
        </p:nvSpPr>
        <p:spPr>
          <a:xfrm>
            <a:off x="3378708" y="41605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hange number 2"/>
          <p:cNvSpPr txBox="1"/>
          <p:nvPr/>
        </p:nvSpPr>
        <p:spPr>
          <a:xfrm>
            <a:off x="3378708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Change text 2"/>
          <p:cNvSpPr txBox="1"/>
          <p:nvPr/>
        </p:nvSpPr>
        <p:spPr>
          <a:xfrm>
            <a:off x="3835908" y="40507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Two labelled series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Women and men compared directly, no legend</a:t>
            </a:r>
            <a:endParaRPr lang="en-US" sz="1200" dirty="0"/>
          </a:p>
        </p:txBody>
      </p:sp>
      <p:sp>
        <p:nvSpPr>
          <p:cNvPr id="18" name="Change card 3"/>
          <p:cNvSpPr/>
          <p:nvPr/>
        </p:nvSpPr>
        <p:spPr>
          <a:xfrm>
            <a:off x="6080760" y="4005072"/>
            <a:ext cx="2606040" cy="658368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</p:sp>
      <p:sp>
        <p:nvSpPr>
          <p:cNvPr id="19" name="Change badge 3"/>
          <p:cNvSpPr/>
          <p:nvPr/>
        </p:nvSpPr>
        <p:spPr>
          <a:xfrm>
            <a:off x="6190488" y="41605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hange number 3"/>
          <p:cNvSpPr txBox="1"/>
          <p:nvPr/>
        </p:nvSpPr>
        <p:spPr>
          <a:xfrm>
            <a:off x="6190488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Change text 3"/>
          <p:cNvSpPr txBox="1"/>
          <p:nvPr/>
        </p:nvSpPr>
        <p:spPr>
          <a:xfrm>
            <a:off x="6647688" y="405079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Gap annotated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Eye is led to 40–44: 47.9 points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Half of students cost Rs 3,500 a year or less; the top tenth cost Rs 18,700 or more</a:t>
            </a:r>
            <a:endParaRPr lang="en-US" sz="2400" dirty="0"/>
          </a:p>
        </p:txBody>
      </p:sp>
      <p:sp>
        <p:nvSpPr>
          <p:cNvPr id="3" name="Hero value"/>
          <p:cNvSpPr txBox="1"/>
          <p:nvPr/>
        </p:nvSpPr>
        <p:spPr>
          <a:xfrm>
            <a:off x="457200" y="1280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/>
              </a:rPr>
              <a:t>Rs 3,500</a:t>
            </a:r>
            <a:endParaRPr lang="en-US" sz="4400" dirty="0"/>
          </a:p>
        </p:txBody>
      </p:sp>
      <p:sp>
        <p:nvSpPr>
          <p:cNvPr id="4" name="Hero label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weighted median annual spending per student</a:t>
            </a:r>
            <a:endParaRPr lang="en-US" sz="1400" dirty="0"/>
          </a:p>
        </p:txBody>
      </p:sp>
      <p:sp>
        <p:nvSpPr>
          <p:cNvPr id="5" name="Stat key 1"/>
          <p:cNvSpPr txBox="1"/>
          <p:nvPr/>
        </p:nvSpPr>
        <p:spPr>
          <a:xfrm>
            <a:off x="457200" y="2651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Unweighted median</a:t>
            </a:r>
            <a:endParaRPr lang="en-US" sz="1200" dirty="0"/>
          </a:p>
        </p:txBody>
      </p:sp>
      <p:sp>
        <p:nvSpPr>
          <p:cNvPr id="6" name="Stat value 1"/>
          <p:cNvSpPr txBox="1"/>
          <p:nvPr/>
        </p:nvSpPr>
        <p:spPr>
          <a:xfrm>
            <a:off x="2194560" y="2651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Rs 3,000</a:t>
            </a:r>
            <a:endParaRPr lang="en-US" sz="1400" dirty="0"/>
          </a:p>
        </p:txBody>
      </p:sp>
      <p:sp>
        <p:nvSpPr>
          <p:cNvPr id="7" name="Row rule 1"/>
          <p:cNvSpPr/>
          <p:nvPr/>
        </p:nvSpPr>
        <p:spPr>
          <a:xfrm>
            <a:off x="457200" y="2999232"/>
            <a:ext cx="2926080" cy="0"/>
          </a:xfrm>
          <a:prstGeom prst="line">
            <a:avLst/>
          </a:prstGeom>
          <a:noFill/>
          <a:ln w="9525">
            <a:solidFill>
              <a:srgbClr val="C5D3CC"/>
            </a:solidFill>
            <a:prstDash val="solid"/>
          </a:ln>
        </p:spPr>
      </p:sp>
      <p:sp>
        <p:nvSpPr>
          <p:cNvPr id="8" name="Stat key 2"/>
          <p:cNvSpPr txBox="1"/>
          <p:nvPr/>
        </p:nvSpPr>
        <p:spPr>
          <a:xfrm>
            <a:off x="457200" y="3017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10th percentile (weighted)</a:t>
            </a:r>
            <a:endParaRPr lang="en-US" sz="1200" dirty="0"/>
          </a:p>
        </p:txBody>
      </p:sp>
      <p:sp>
        <p:nvSpPr>
          <p:cNvPr id="9" name="Stat value 2"/>
          <p:cNvSpPr txBox="1"/>
          <p:nvPr/>
        </p:nvSpPr>
        <p:spPr>
          <a:xfrm>
            <a:off x="2194560" y="3017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Rs 600</a:t>
            </a:r>
            <a:endParaRPr lang="en-US" sz="1400" dirty="0"/>
          </a:p>
        </p:txBody>
      </p:sp>
      <p:sp>
        <p:nvSpPr>
          <p:cNvPr id="10" name="Row rule 2"/>
          <p:cNvSpPr/>
          <p:nvPr/>
        </p:nvSpPr>
        <p:spPr>
          <a:xfrm>
            <a:off x="457200" y="3364992"/>
            <a:ext cx="2926080" cy="0"/>
          </a:xfrm>
          <a:prstGeom prst="line">
            <a:avLst/>
          </a:prstGeom>
          <a:noFill/>
          <a:ln w="9525">
            <a:solidFill>
              <a:srgbClr val="C5D3CC"/>
            </a:solidFill>
            <a:prstDash val="solid"/>
          </a:ln>
        </p:spPr>
      </p:sp>
      <p:sp>
        <p:nvSpPr>
          <p:cNvPr id="11" name="Stat key 3"/>
          <p:cNvSpPr txBox="1"/>
          <p:nvPr/>
        </p:nvSpPr>
        <p:spPr>
          <a:xfrm>
            <a:off x="457200" y="3383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90th percentile (weighted)</a:t>
            </a:r>
            <a:endParaRPr lang="en-US" sz="1200" dirty="0"/>
          </a:p>
        </p:txBody>
      </p:sp>
      <p:sp>
        <p:nvSpPr>
          <p:cNvPr id="12" name="Stat value 3"/>
          <p:cNvSpPr txBox="1"/>
          <p:nvPr/>
        </p:nvSpPr>
        <p:spPr>
          <a:xfrm>
            <a:off x="2194560" y="3383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Rs 18,700</a:t>
            </a:r>
            <a:endParaRPr lang="en-US" sz="1400" dirty="0"/>
          </a:p>
        </p:txBody>
      </p:sp>
      <p:sp>
        <p:nvSpPr>
          <p:cNvPr id="13" name="Row rule 3"/>
          <p:cNvSpPr/>
          <p:nvPr/>
        </p:nvSpPr>
        <p:spPr>
          <a:xfrm>
            <a:off x="457200" y="3730752"/>
            <a:ext cx="2926080" cy="0"/>
          </a:xfrm>
          <a:prstGeom prst="line">
            <a:avLst/>
          </a:prstGeom>
          <a:noFill/>
          <a:ln w="9525">
            <a:solidFill>
              <a:srgbClr val="C5D3CC"/>
            </a:solidFill>
            <a:prstDash val="solid"/>
          </a:ln>
        </p:spPr>
      </p:sp>
      <p:sp>
        <p:nvSpPr>
          <p:cNvPr id="14" name="Stat key 4"/>
          <p:cNvSpPr txBox="1"/>
          <p:nvPr/>
        </p:nvSpPr>
        <p:spPr>
          <a:xfrm>
            <a:off x="457200" y="3749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90th ÷ 10th ratio</a:t>
            </a:r>
            <a:endParaRPr lang="en-US" sz="1200" dirty="0"/>
          </a:p>
        </p:txBody>
      </p:sp>
      <p:sp>
        <p:nvSpPr>
          <p:cNvPr id="15" name="Stat value 4"/>
          <p:cNvSpPr txBox="1"/>
          <p:nvPr/>
        </p:nvSpPr>
        <p:spPr>
          <a:xfrm>
            <a:off x="2194560" y="3749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31.17</a:t>
            </a:r>
            <a:endParaRPr lang="en-US" sz="1400" dirty="0"/>
          </a:p>
        </p:txBody>
      </p:sp>
      <p:sp>
        <p:nvSpPr>
          <p:cNvPr id="16" name="Row rule 4"/>
          <p:cNvSpPr/>
          <p:nvPr/>
        </p:nvSpPr>
        <p:spPr>
          <a:xfrm>
            <a:off x="457200" y="4096512"/>
            <a:ext cx="2926080" cy="0"/>
          </a:xfrm>
          <a:prstGeom prst="line">
            <a:avLst/>
          </a:prstGeom>
          <a:noFill/>
          <a:ln w="9525">
            <a:solidFill>
              <a:srgbClr val="C5D3CC"/>
            </a:solidFill>
            <a:prstDash val="solid"/>
          </a:ln>
        </p:spPr>
      </p:sp>
      <p:sp>
        <p:nvSpPr>
          <p:cNvPr id="17" name="Stat key 5"/>
          <p:cNvSpPr txBox="1"/>
          <p:nvPr/>
        </p:nvSpPr>
        <p:spPr>
          <a:xfrm>
            <a:off x="457200" y="4114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Excluded from histogram</a:t>
            </a:r>
            <a:endParaRPr lang="en-US" sz="1200" dirty="0"/>
          </a:p>
        </p:txBody>
      </p:sp>
      <p:sp>
        <p:nvSpPr>
          <p:cNvPr id="18" name="Stat value 5"/>
          <p:cNvSpPr txBox="1"/>
          <p:nvPr/>
        </p:nvSpPr>
        <p:spPr>
          <a:xfrm>
            <a:off x="2194560" y="4114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of 1,464</a:t>
            </a:r>
            <a:endParaRPr lang="en-US" sz="1400" dirty="0"/>
          </a:p>
        </p:txBody>
      </p:sp>
      <p:sp>
        <p:nvSpPr>
          <p:cNvPr id="19" name="Figure card"/>
          <p:cNvSpPr/>
          <p:nvPr/>
        </p:nvSpPr>
        <p:spPr>
          <a:xfrm>
            <a:off x="3474720" y="1280160"/>
            <a:ext cx="5212080" cy="3256280"/>
          </a:xfrm>
          <a:prstGeom prst="roundRect">
            <a:avLst>
              <a:gd name="adj" fmla="val 2246"/>
            </a:avLst>
          </a:prstGeom>
          <a:solidFill>
            <a:schemeClr val="bg1"/>
          </a:solidFill>
          <a:ln w="9525">
            <a:solidFill>
              <a:srgbClr val="C5D3CC"/>
            </a:solidFill>
          </a:ln>
        </p:spPr>
      </p:sp>
      <p:pic>
        <p:nvPicPr>
          <p:cNvPr id="20" name="Image 0" descr="Weighted histogram of annual education spending per student on a log scale with dashed lines at the median Rs 3,500 and 90th percentile Rs 18,7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371600"/>
            <a:ext cx="5029200" cy="3073400"/>
          </a:xfrm>
          <a:prstGeom prst="rect">
            <a:avLst/>
          </a:prstGeom>
        </p:spPr>
      </p:pic>
      <p:sp>
        <p:nvSpPr>
          <p:cNvPr id="21" name="Weights note"/>
          <p:cNvSpPr txBox="1"/>
          <p:nvPr/>
        </p:nvSpPr>
        <p:spPr>
          <a:xfrm>
            <a:off x="3474720" y="46461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Weights count the households each student represents.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Key finding: men out-read women in every age band, most of all at ages 40–44</a:t>
            </a:r>
            <a:endParaRPr lang="en-US" sz="24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539496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 w="9525">
            <a:solidFill>
              <a:srgbClr val="C5D3CC"/>
            </a:solidFill>
          </a:ln>
        </p:spPr>
      </p:sp>
      <p:sp>
        <p:nvSpPr>
          <p:cNvPr id="4" name="Chart heading"/>
          <p:cNvSpPr txBox="1"/>
          <p:nvPr/>
        </p:nvSpPr>
        <p:spPr>
          <a:xfrm>
            <a:off x="64008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Weighted literacy rate (%) by age band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Gap value"/>
          <p:cNvSpPr txBox="1"/>
          <p:nvPr/>
        </p:nvSpPr>
        <p:spPr>
          <a:xfrm>
            <a:off x="6172200" y="1143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/>
              </a:rPr>
              <a:t>47.9</a:t>
            </a:r>
            <a:endParaRPr lang="en-US" sz="6400" dirty="0"/>
          </a:p>
        </p:txBody>
      </p:sp>
      <p:sp>
        <p:nvSpPr>
          <p:cNvPr id="7" name="Gap label"/>
          <p:cNvSpPr txBox="1"/>
          <p:nvPr/>
        </p:nvSpPr>
        <p:spPr>
          <a:xfrm>
            <a:off x="6172200" y="2057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percentage-point gap at 40 to 44: 55.4% of men vs 7.5% of women</a:t>
            </a:r>
            <a:endParaRPr lang="en-US" sz="1400" dirty="0"/>
          </a:p>
        </p:txBody>
      </p:sp>
      <p:sp>
        <p:nvSpPr>
          <p:cNvPr id="8" name="Mini card 1"/>
          <p:cNvSpPr/>
          <p:nvPr/>
        </p:nvSpPr>
        <p:spPr>
          <a:xfrm>
            <a:off x="6172200" y="2926080"/>
            <a:ext cx="25146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9" name="Mini label 1"/>
          <p:cNvSpPr txBox="1"/>
          <p:nvPr/>
        </p:nvSpPr>
        <p:spPr>
          <a:xfrm>
            <a:off x="6309360" y="2990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Ages 15–19</a:t>
            </a:r>
            <a:endParaRPr lang="en-US" sz="1100" dirty="0"/>
          </a:p>
        </p:txBody>
      </p:sp>
      <p:sp>
        <p:nvSpPr>
          <p:cNvPr id="10" name="Mini values 1"/>
          <p:cNvSpPr txBox="1"/>
          <p:nvPr/>
        </p:nvSpPr>
        <p:spPr>
          <a:xfrm>
            <a:off x="6309360" y="32186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570F"/>
                </a:solidFill>
              </a:rPr>
              <a:t>33.3%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women      </a:t>
            </a:r>
            <a:pPr indent="0" marL="0">
              <a:buNone/>
            </a:pPr>
            <a:r>
              <a:rPr lang="en-US" sz="1800" b="1" dirty="0">
                <a:solidFill>
                  <a:srgbClr val="1F6F8B"/>
                </a:solidFill>
              </a:rPr>
              <a:t>63.8%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men</a:t>
            </a:r>
            <a:endParaRPr lang="en-US" sz="1800" dirty="0"/>
          </a:p>
        </p:txBody>
      </p:sp>
      <p:sp>
        <p:nvSpPr>
          <p:cNvPr id="11" name="Mini card 2"/>
          <p:cNvSpPr/>
          <p:nvPr/>
        </p:nvSpPr>
        <p:spPr>
          <a:xfrm>
            <a:off x="6172200" y="3794760"/>
            <a:ext cx="251460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12" name="Mini label 2"/>
          <p:cNvSpPr txBox="1"/>
          <p:nvPr/>
        </p:nvSpPr>
        <p:spPr>
          <a:xfrm>
            <a:off x="6309360" y="3858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Ages 55–59</a:t>
            </a:r>
            <a:endParaRPr lang="en-US" sz="1100" dirty="0"/>
          </a:p>
        </p:txBody>
      </p:sp>
      <p:sp>
        <p:nvSpPr>
          <p:cNvPr id="13" name="Mini values 2"/>
          <p:cNvSpPr txBox="1"/>
          <p:nvPr/>
        </p:nvSpPr>
        <p:spPr>
          <a:xfrm>
            <a:off x="6309360" y="40873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570F"/>
                </a:solidFill>
              </a:rPr>
              <a:t>3.5%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women      </a:t>
            </a:r>
            <a:pPr indent="0" marL="0">
              <a:buNone/>
            </a:pPr>
            <a:r>
              <a:rPr lang="en-US" sz="1800" b="1" dirty="0">
                <a:solidFill>
                  <a:srgbClr val="1F6F8B"/>
                </a:solidFill>
              </a:rPr>
              <a:t>39.7%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  men</a:t>
            </a:r>
            <a:endParaRPr lang="en-US" sz="1800" dirty="0"/>
          </a:p>
        </p:txBody>
      </p:sp>
      <p:sp>
        <p:nvSpPr>
          <p:cNvPr id="14" name="Caveat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Descriptive only: it cannot tell us why the gap exists.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ergreen and Saffron">
  <a:themeElements>
    <a:clrScheme name="Evergreen and Saffron">
      <a:dk1>
        <a:srgbClr val="12332E"/>
      </a:dk1>
      <a:lt1>
        <a:srgbClr val="FFFFFF"/>
      </a:lt1>
      <a:dk2>
        <a:srgbClr val="0A2420"/>
      </a:dk2>
      <a:lt2>
        <a:srgbClr val="F4F7F5"/>
      </a:lt2>
      <a:accent1>
        <a:srgbClr val="0C6B58"/>
      </a:accent1>
      <a:accent2>
        <a:srgbClr val="F0B84A"/>
      </a:accent2>
      <a:accent3>
        <a:srgbClr val="C2570F"/>
      </a:accent3>
      <a:accent4>
        <a:srgbClr val="1F6F8B"/>
      </a:accent4>
      <a:accent5>
        <a:srgbClr val="4A605A"/>
      </a:accent5>
      <a:accent6>
        <a:srgbClr val="DDE8E3"/>
      </a:accent6>
      <a:hlink>
        <a:srgbClr val="0C6B58"/>
      </a:hlink>
      <a:folHlink>
        <a:srgbClr val="4A605A"/>
      </a:folHlink>
    </a:clrScheme>
    <a:fontScheme name="Evergreen and Saffr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FA24-BEDS-014</dc:title>
  <dc:subject>PptxGenJS Presentation</dc:subject>
  <dc:creator>Areeba Tahir</dc:creator>
  <cp:lastModifiedBy>Areeba Tahir</cp:lastModifiedBy>
  <cp:revision>1</cp:revision>
  <dcterms:created xsi:type="dcterms:W3CDTF">2026-10-26T09:59:07Z</dcterms:created>
  <dcterms:modified xsi:type="dcterms:W3CDTF">2026-10-26T09:59:07Z</dcterms:modified>
</cp:coreProperties>
</file>